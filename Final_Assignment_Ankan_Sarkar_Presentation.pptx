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cb417e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cb417e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cb417e2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cb417e2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cb417e2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cb417e2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6cb417e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6cb417e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127.0.0.1:5000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-383144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80"/>
              <a:t>Major Project — Custom Vulnerable Web Lab &amp; Automated Exploit Testing Suite</a:t>
            </a:r>
            <a:endParaRPr b="1" sz="28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11523"/>
            <a:ext cx="8520600" cy="16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Student Name:</a:t>
            </a:r>
            <a:r>
              <a:rPr lang="en" sz="2000">
                <a:solidFill>
                  <a:schemeClr val="dk1"/>
                </a:solidFill>
              </a:rPr>
              <a:t> Ankan Sarkar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Role:</a:t>
            </a:r>
            <a:r>
              <a:rPr lang="en" sz="2000">
                <a:solidFill>
                  <a:schemeClr val="dk1"/>
                </a:solidFill>
              </a:rPr>
              <a:t> Ethical Hacking &amp; Cybersecurity Intern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Organization:</a:t>
            </a:r>
            <a:r>
              <a:rPr lang="en" sz="2000">
                <a:solidFill>
                  <a:schemeClr val="dk1"/>
                </a:solidFill>
              </a:rPr>
              <a:t> VaultofCodes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Selected Option:</a:t>
            </a:r>
            <a:r>
              <a:rPr lang="en" sz="2000">
                <a:solidFill>
                  <a:schemeClr val="dk1"/>
                </a:solidFill>
              </a:rPr>
              <a:t> Option 11 — Custom Vulnerable Lab (Advanced Option)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/>
              <a:t>Problem Statement &amp; Project Goals:</a:t>
            </a:r>
            <a:endParaRPr b="1" sz="26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The Problem:</a:t>
            </a:r>
            <a:r>
              <a:rPr lang="en">
                <a:solidFill>
                  <a:schemeClr val="dk1"/>
                </a:solidFill>
              </a:rPr>
              <a:t> Insecure coding practices lead to persistent web application vulnerabilities such as broken access control, XSS, and weak authentication in production systems.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Project Objective:</a:t>
            </a:r>
            <a:r>
              <a:rPr lang="en">
                <a:solidFill>
                  <a:schemeClr val="dk1"/>
                </a:solidFill>
              </a:rPr>
              <a:t> Build a complete, functional lab environment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r>
              <a:rPr lang="en">
                <a:solidFill>
                  <a:schemeClr val="dk1"/>
                </a:solidFill>
              </a:rPr>
              <a:t>) featuring multiple controlled vulnerabilities alongside an automated exploit test suite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exploit_test.py</a:t>
            </a:r>
            <a:r>
              <a:rPr lang="en">
                <a:solidFill>
                  <a:schemeClr val="dk1"/>
                </a:solidFill>
              </a:rPr>
              <a:t>).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Value Delivered:</a:t>
            </a:r>
            <a:r>
              <a:rPr lang="en">
                <a:solidFill>
                  <a:schemeClr val="dk1"/>
                </a:solidFill>
              </a:rPr>
              <a:t> Demonstrates end-to-end vulnerability execution, payload verification, and defensive remediation strategies.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/>
              <a:t>Lab Architecture &amp; Vulnerability Modules:</a:t>
            </a:r>
            <a:endParaRPr b="1" sz="26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Module 1 — Weak Authentication:</a:t>
            </a:r>
            <a:r>
              <a:rPr lang="en">
                <a:solidFill>
                  <a:schemeClr val="dk1"/>
                </a:solidFill>
              </a:rPr>
              <a:t> Uses predictable default credentials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admin</a:t>
            </a:r>
            <a:r>
              <a:rPr lang="en">
                <a:solidFill>
                  <a:schemeClr val="dk1"/>
                </a:solidFill>
              </a:rPr>
              <a:t> /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admin123</a:t>
            </a:r>
            <a:r>
              <a:rPr lang="en">
                <a:solidFill>
                  <a:schemeClr val="dk1"/>
                </a:solidFill>
              </a:rPr>
              <a:t>) without rate limiting.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Module 2 — Reflected XSS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/search?q=</a:t>
            </a:r>
            <a:r>
              <a:rPr b="1" lang="en">
                <a:solidFill>
                  <a:schemeClr val="dk1"/>
                </a:solidFill>
              </a:rPr>
              <a:t>):</a:t>
            </a:r>
            <a:r>
              <a:rPr lang="en">
                <a:solidFill>
                  <a:schemeClr val="dk1"/>
                </a:solidFill>
              </a:rPr>
              <a:t> Echoes dynamic URL parameters directly into rendered HTML without output encoding.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Module 3 — IDOR / Parameter Tampering (</a:t>
            </a:r>
            <a:r>
              <a:rPr b="1" lang="en">
                <a:solidFill>
                  <a:srgbClr val="188038"/>
                </a:solidFill>
              </a:rPr>
              <a:t>/profile?user_id=</a:t>
            </a:r>
            <a:r>
              <a:rPr b="1" lang="en">
                <a:solidFill>
                  <a:schemeClr val="dk1"/>
                </a:solidFill>
              </a:rPr>
              <a:t>):</a:t>
            </a:r>
            <a:r>
              <a:rPr lang="en">
                <a:solidFill>
                  <a:schemeClr val="dk1"/>
                </a:solidFill>
              </a:rPr>
              <a:t> Evaluates account access based on client-controlled URL parameters rather than server-side session tokens.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 title="Screenshot_2026-08-10_19_16_11.png"/>
          <p:cNvPicPr preferRelativeResize="0"/>
          <p:nvPr/>
        </p:nvPicPr>
        <p:blipFill rotWithShape="1">
          <a:blip r:embed="rId3">
            <a:alphaModFix/>
          </a:blip>
          <a:srcRect b="51338" l="20570" r="20132" t="0"/>
          <a:stretch/>
        </p:blipFill>
        <p:spPr>
          <a:xfrm>
            <a:off x="5446050" y="3112650"/>
            <a:ext cx="3121873" cy="19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/>
              <a:t>Exploit Demonstration &amp; Key Findings:</a:t>
            </a:r>
            <a:endParaRPr b="1" sz="26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Automated Proof-of-Concept:</a:t>
            </a:r>
            <a:r>
              <a:rPr lang="en">
                <a:solidFill>
                  <a:schemeClr val="dk1"/>
                </a:solidFill>
              </a:rPr>
              <a:t> Executed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exploit_test.py</a:t>
            </a:r>
            <a:r>
              <a:rPr lang="en">
                <a:solidFill>
                  <a:schemeClr val="dk1"/>
                </a:solidFill>
              </a:rPr>
              <a:t> against active target server </a:t>
            </a:r>
            <a:r>
              <a:rPr lang="en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http://127.0.0.1:5000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Reflected XSS Verified:</a:t>
            </a:r>
            <a:r>
              <a:rPr lang="en">
                <a:solidFill>
                  <a:schemeClr val="dk1"/>
                </a:solidFill>
              </a:rPr>
              <a:t> Payload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&lt;script&gt;alert(...)</a:t>
            </a:r>
            <a:r>
              <a:rPr lang="en">
                <a:solidFill>
                  <a:schemeClr val="dk1"/>
                </a:solidFill>
              </a:rPr>
              <a:t> rendered in DOM.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Privilege Escalation Verified:</a:t>
            </a:r>
            <a:r>
              <a:rPr lang="en">
                <a:solidFill>
                  <a:schemeClr val="dk1"/>
                </a:solidFill>
              </a:rPr>
              <a:t> Tampered </a:t>
            </a:r>
            <a:r>
              <a:rPr lang="en">
                <a:solidFill>
                  <a:srgbClr val="188038"/>
                </a:solidFill>
              </a:rPr>
              <a:t>?user_id=3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lang="en">
                <a:solidFill>
                  <a:srgbClr val="188038"/>
                </a:solidFill>
              </a:rPr>
              <a:t>?user_id=1</a:t>
            </a:r>
            <a:r>
              <a:rPr lang="en">
                <a:solidFill>
                  <a:schemeClr val="dk1"/>
                </a:solidFill>
              </a:rPr>
              <a:t> to extract private Administrator API key (</a:t>
            </a:r>
            <a:r>
              <a:rPr lang="en">
                <a:solidFill>
                  <a:srgbClr val="188038"/>
                </a:solidFill>
              </a:rPr>
              <a:t>SECRET_API_KEY_ADMIN_9901</a:t>
            </a:r>
            <a:r>
              <a:rPr lang="en">
                <a:solidFill>
                  <a:schemeClr val="dk1"/>
                </a:solidFill>
              </a:rPr>
              <a:t>).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Exploit Result:</a:t>
            </a:r>
            <a:r>
              <a:rPr lang="en">
                <a:solidFill>
                  <a:schemeClr val="dk1"/>
                </a:solidFill>
              </a:rPr>
              <a:t> 100% automated verification across all three attack vectors.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5" name="Google Shape;75;p16" title="Screenshot_2026-08-10_19_30_06.png"/>
          <p:cNvPicPr preferRelativeResize="0"/>
          <p:nvPr/>
        </p:nvPicPr>
        <p:blipFill rotWithShape="1">
          <a:blip r:embed="rId4">
            <a:alphaModFix/>
          </a:blip>
          <a:srcRect b="55478" l="0" r="28683" t="0"/>
          <a:stretch/>
        </p:blipFill>
        <p:spPr>
          <a:xfrm>
            <a:off x="233802" y="3146048"/>
            <a:ext cx="4414601" cy="17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Screenshot_2026-08-10_19_18_57.png"/>
          <p:cNvPicPr preferRelativeResize="0"/>
          <p:nvPr/>
        </p:nvPicPr>
        <p:blipFill rotWithShape="1">
          <a:blip r:embed="rId5">
            <a:alphaModFix/>
          </a:blip>
          <a:srcRect b="29413" l="0" r="29947" t="0"/>
          <a:stretch/>
        </p:blipFill>
        <p:spPr>
          <a:xfrm>
            <a:off x="5731400" y="3118545"/>
            <a:ext cx="3100900" cy="198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/>
              <a:t>Remediation &amp; Secure Coding Recommendations:</a:t>
            </a:r>
            <a:endParaRPr b="1" sz="262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097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Enforce Context-Aware Output Encoding:</a:t>
            </a:r>
            <a:r>
              <a:rPr lang="en">
                <a:solidFill>
                  <a:schemeClr val="dk1"/>
                </a:solidFill>
              </a:rPr>
              <a:t> Apply </a:t>
            </a:r>
            <a:r>
              <a:rPr lang="en">
                <a:solidFill>
                  <a:srgbClr val="188038"/>
                </a:solidFill>
              </a:rPr>
              <a:t>htmlspecialchars()</a:t>
            </a:r>
            <a:r>
              <a:rPr lang="en">
                <a:solidFill>
                  <a:schemeClr val="dk1"/>
                </a:solidFill>
              </a:rPr>
              <a:t> or jinja auto-escaping to eliminate Reflected XSS.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Server-Side Session Validation:</a:t>
            </a:r>
            <a:r>
              <a:rPr lang="en">
                <a:solidFill>
                  <a:schemeClr val="dk1"/>
                </a:solidFill>
              </a:rPr>
              <a:t> Verify user permissions against secure server sessions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$_SESSION['user_id']</a:t>
            </a:r>
            <a:r>
              <a:rPr lang="en">
                <a:solidFill>
                  <a:schemeClr val="dk1"/>
                </a:solidFill>
              </a:rPr>
              <a:t>) to block IDOR attacks.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Credential Hardening:</a:t>
            </a:r>
            <a:r>
              <a:rPr lang="en">
                <a:solidFill>
                  <a:schemeClr val="dk1"/>
                </a:solidFill>
              </a:rPr>
              <a:t> Implement multi-factor authentication (MFA) and account lockouts after failed login attempts.  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